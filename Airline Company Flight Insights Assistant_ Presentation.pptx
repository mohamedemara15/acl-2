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5" r:id="rId19"/>
    <p:sldId id="276" r:id="rId20"/>
    <p:sldId id="278" r:id="rId21"/>
    <p:sldId id="280" r:id="rId22"/>
    <p:sldId id="282" r:id="rId23"/>
    <p:sldId id="283" r:id="rId24"/>
    <p:sldId id="284" r:id="rId25"/>
    <p:sldId id="28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44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7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54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25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89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8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6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92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53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9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4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9D14D04-9027-438C-BB27-0005FEF6A33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AE6593-CFCB-4C4D-8FA9-31561A4DAE1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00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3499-ADA3-44DA-84C2-E2AE2EC4E1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Airline Company Flight Insights Assistant​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73E7A-0901-4D8C-A9DF-8AAE1DB721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High-Level System Architecture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Preprocessing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Graph Retrieval Layers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LLM Layer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Error Analysis &amp; Improvements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62193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A3B3-9BF6-434B-B694-C4E9AAB9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1-High-Level System Architecture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F477A-2577-4824-9ECE-86D4007B3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Whole pipeline :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7E308-60CB-42BA-97FD-6071E047E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937" y="1815891"/>
            <a:ext cx="2176463" cy="455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74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B9E76-5E58-4CA6-8B76-73F35681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F7257-F526-4DC1-B3E2-9C5674DF2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49424"/>
            <a:ext cx="9720073" cy="4023360"/>
          </a:xfrm>
        </p:spPr>
        <p:txBody>
          <a:bodyPr/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Preprocessing overview :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the stage where raw user queries are processed in our airline information     system to become structured data ready for querying and analysis, enabling </a:t>
            </a:r>
            <a:r>
              <a:rPr lang="en-US" b="1" dirty="0"/>
              <a:t>accurate retrieval</a:t>
            </a:r>
            <a:r>
              <a:rPr lang="en-US" dirty="0"/>
              <a:t>, </a:t>
            </a:r>
            <a:r>
              <a:rPr lang="en-US" b="1" dirty="0"/>
              <a:t>semantic search</a:t>
            </a:r>
            <a:r>
              <a:rPr lang="en-US" dirty="0"/>
              <a:t>, and </a:t>
            </a:r>
            <a:r>
              <a:rPr lang="en-US" b="1" dirty="0"/>
              <a:t>data-driven insights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How does raw English text become a structured database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EDDB4-00DF-4D78-8459-724C18904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85467"/>
            <a:ext cx="4482138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3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2-Preprocessing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74120"/>
            <a:ext cx="9720073" cy="1383054"/>
          </a:xfrm>
        </p:spPr>
        <p:txBody>
          <a:bodyPr/>
          <a:lstStyle/>
          <a:p>
            <a:pPr marL="457200" indent="-457200">
              <a:buFont typeface="+mj-lt"/>
              <a:buAutoNum type="alphaUcPeriod" startAt="2"/>
            </a:pPr>
            <a:r>
              <a:rPr lang="en-US" dirty="0"/>
              <a:t>Intent Classification (Rule-Based)</a:t>
            </a:r>
          </a:p>
          <a:p>
            <a:pPr marL="0" indent="0">
              <a:buNone/>
            </a:pPr>
            <a:r>
              <a:rPr lang="en-US" dirty="0"/>
              <a:t>We use a </a:t>
            </a:r>
            <a:r>
              <a:rPr lang="en-US" b="1" dirty="0"/>
              <a:t>rule-based intent classifier</a:t>
            </a:r>
            <a:r>
              <a:rPr lang="en-US" dirty="0"/>
              <a:t>, designed specifically for the airline domain.</a:t>
            </a:r>
          </a:p>
          <a:p>
            <a:pPr marL="0" indent="0">
              <a:buNone/>
            </a:pPr>
            <a:r>
              <a:rPr lang="en-US" dirty="0"/>
              <a:t>Where the classifier uses 7 ordered rule groups: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973B94C-AADA-4CE0-9921-80E84E3F6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031117"/>
              </p:ext>
            </p:extLst>
          </p:nvPr>
        </p:nvGraphicFramePr>
        <p:xfrm>
          <a:off x="1189319" y="3557174"/>
          <a:ext cx="8128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882617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16676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285481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03304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 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 intent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43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worst, lowest, 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worst_*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5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Delay-related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delay, 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delay_query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22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food, comfort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satisfaction_query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1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business, economy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class_comparison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78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Route-related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route, airport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route_query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190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best, 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recommendation_query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45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 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general_query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196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05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2-Preprocessing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74120"/>
            <a:ext cx="10818249" cy="447769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 startAt="3"/>
            </a:pPr>
            <a:r>
              <a:rPr lang="en-US" dirty="0"/>
              <a:t>Entity extraction</a:t>
            </a:r>
          </a:p>
          <a:p>
            <a:pPr marL="0" indent="0">
              <a:buNone/>
            </a:pPr>
            <a:r>
              <a:rPr lang="en-US" dirty="0"/>
              <a:t>Details mentioned in the query or in other words query parameters</a:t>
            </a:r>
          </a:p>
          <a:p>
            <a:pPr marL="0" indent="0">
              <a:buNone/>
            </a:pPr>
            <a:r>
              <a:rPr lang="en-US" dirty="0"/>
              <a:t>We extract the following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Airports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Flight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Delay constraints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Satisfaction threshold</a:t>
            </a:r>
          </a:p>
          <a:p>
            <a:pPr marL="0" indent="0">
              <a:buNone/>
            </a:pPr>
            <a:r>
              <a:rPr lang="en-US" dirty="0"/>
              <a:t>According to rules, countless if conditions categorizing words into entities.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3F177C-1C4D-4D1A-9CC0-660BCFCBB595}"/>
              </a:ext>
            </a:extLst>
          </p:cNvPr>
          <p:cNvSpPr/>
          <p:nvPr/>
        </p:nvSpPr>
        <p:spPr>
          <a:xfrm>
            <a:off x="6463553" y="3173505"/>
            <a:ext cx="5074023" cy="21515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“Flights from JFK to LAX under 20 minutes delay”</a:t>
            </a:r>
          </a:p>
          <a:p>
            <a:pPr algn="ctr"/>
            <a:r>
              <a:rPr lang="en-US" dirty="0"/>
              <a:t>entities = {</a:t>
            </a:r>
          </a:p>
          <a:p>
            <a:pPr algn="ctr"/>
            <a:r>
              <a:rPr lang="en-US" dirty="0"/>
              <a:t>  "</a:t>
            </a:r>
            <a:r>
              <a:rPr lang="en-US" dirty="0" err="1"/>
              <a:t>departure_airport</a:t>
            </a:r>
            <a:r>
              <a:rPr lang="en-US" dirty="0"/>
              <a:t>": "JFK",</a:t>
            </a:r>
          </a:p>
          <a:p>
            <a:pPr algn="ctr"/>
            <a:r>
              <a:rPr lang="en-US" dirty="0"/>
              <a:t>  "</a:t>
            </a:r>
            <a:r>
              <a:rPr lang="en-US" dirty="0" err="1"/>
              <a:t>arrival_airport</a:t>
            </a:r>
            <a:r>
              <a:rPr lang="en-US" dirty="0"/>
              <a:t>": "LAX",</a:t>
            </a:r>
          </a:p>
          <a:p>
            <a:pPr algn="ctr"/>
            <a:r>
              <a:rPr lang="en-US" dirty="0"/>
              <a:t>  "</a:t>
            </a:r>
            <a:r>
              <a:rPr lang="en-US" dirty="0" err="1"/>
              <a:t>max_delay_minutes</a:t>
            </a:r>
            <a:r>
              <a:rPr lang="en-US" dirty="0"/>
              <a:t>": 20</a:t>
            </a:r>
          </a:p>
          <a:p>
            <a:pPr algn="ctr"/>
            <a:r>
              <a:rPr lang="en-US" dirty="0"/>
              <a:t>}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5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2-Preprocessing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74120"/>
            <a:ext cx="10818249" cy="447769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 startAt="4"/>
            </a:pPr>
            <a:r>
              <a:rPr lang="en-US" dirty="0"/>
              <a:t>Embedding Step :</a:t>
            </a:r>
          </a:p>
          <a:p>
            <a:pPr marL="0" indent="0">
              <a:buNone/>
            </a:pPr>
            <a:r>
              <a:rPr lang="en-US" dirty="0"/>
              <a:t>For when the query doesn’t get captured within the </a:t>
            </a:r>
            <a:r>
              <a:rPr lang="en-US" dirty="0" err="1"/>
              <a:t>layed</a:t>
            </a:r>
            <a:r>
              <a:rPr lang="en-US" dirty="0"/>
              <a:t> out rules for intent and entities</a:t>
            </a:r>
          </a:p>
          <a:p>
            <a:pPr marL="0" indent="0">
              <a:buNone/>
            </a:pPr>
            <a:r>
              <a:rPr lang="en-US" dirty="0"/>
              <a:t>Turning a sentence into a numeric vector!</a:t>
            </a:r>
          </a:p>
          <a:p>
            <a:pPr marL="0" indent="0">
              <a:buNone/>
            </a:pPr>
            <a:r>
              <a:rPr lang="en-US" dirty="0"/>
              <a:t>Ex:</a:t>
            </a:r>
          </a:p>
          <a:p>
            <a:pPr marL="0" indent="0">
              <a:buNone/>
            </a:pPr>
            <a:r>
              <a:rPr lang="en-US" dirty="0"/>
              <a:t>"Which flights make me arrive way later than planned?“</a:t>
            </a:r>
          </a:p>
          <a:p>
            <a:pPr marL="0" indent="0">
              <a:buNone/>
            </a:pPr>
            <a:r>
              <a:rPr lang="en-US" dirty="0"/>
              <a:t>[0.021, -0.113, 0.554, ...]  # meaning vector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74120"/>
            <a:ext cx="10818249" cy="447769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Baseline Retrieval :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Had A total of 11 rules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CBBCC-6816-4A33-A482-28551BB7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35" y="2243507"/>
            <a:ext cx="6891338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0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74120"/>
            <a:ext cx="10818249" cy="447769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Baseline Retrieval :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Had A total of 11 rules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4BC7B-04A9-49DA-BA5D-205639A5A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953" y="2274883"/>
            <a:ext cx="6837919" cy="427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062239"/>
            <a:ext cx="10818249" cy="479576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Baseline Retrieval :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Had A total of 11 rules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EF856-F6B7-4EF1-9450-311CFFFB6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648" y="2062240"/>
            <a:ext cx="7400407" cy="479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59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715291"/>
            <a:ext cx="10818249" cy="51427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Baseline Retrieval :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Had A total of 11 rules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50250-C1D0-4E5E-8182-116BA2A82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153" y="1715290"/>
            <a:ext cx="6271772" cy="510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30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715291"/>
            <a:ext cx="10818249" cy="51427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Baseline Retrieval :</a:t>
            </a:r>
          </a:p>
          <a:p>
            <a:pPr marL="514350" indent="-514350">
              <a:buFont typeface="+mj-lt"/>
              <a:buAutoNum type="romanUcPeriod" startAt="2"/>
            </a:pPr>
            <a:r>
              <a:rPr lang="en-US" dirty="0"/>
              <a:t>Retrieved nodes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883D5D-0EFB-44D5-8D10-E83D4CE8E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707" y="1936734"/>
            <a:ext cx="7644528" cy="477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99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573638"/>
            <a:ext cx="10818249" cy="54260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Baseline Retrieval :</a:t>
            </a:r>
          </a:p>
          <a:p>
            <a:pPr marL="514350" indent="-514350">
              <a:buFont typeface="+mj-lt"/>
              <a:buAutoNum type="romanUcPeriod" startAt="2"/>
            </a:pPr>
            <a:r>
              <a:rPr lang="en-US" dirty="0"/>
              <a:t>Retrieved nodes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94418-BFDB-4E40-AE3C-462554141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188" y="1573638"/>
            <a:ext cx="7342094" cy="542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70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0804-3D1F-4F09-9D64-A4CD089D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2625"/>
            <a:ext cx="9720072" cy="1499616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C0C5-0485-4464-A05D-62018216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573638"/>
            <a:ext cx="10818249" cy="54260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Baseline Retrieval :</a:t>
            </a:r>
          </a:p>
          <a:p>
            <a:pPr marL="514350" indent="-514350">
              <a:buFont typeface="+mj-lt"/>
              <a:buAutoNum type="romanUcPeriod" startAt="2"/>
            </a:pPr>
            <a:r>
              <a:rPr lang="en-US" dirty="0"/>
              <a:t>Retrieved nodes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3AC2B-8D72-46EE-BC62-E9AFAB441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459" y="1888766"/>
            <a:ext cx="7673216" cy="479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23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5BD9EB-540E-4490-B763-2DECA2CE5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49" y="393700"/>
            <a:ext cx="9539642" cy="5962276"/>
          </a:xfrm>
        </p:spPr>
      </p:pic>
    </p:spTree>
    <p:extLst>
      <p:ext uri="{BB962C8B-B14F-4D97-AF65-F5344CB8AC3E}">
        <p14:creationId xmlns:p14="http://schemas.microsoft.com/office/powerpoint/2010/main" val="260740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A143ED-63DA-49F2-82C1-B3FE94D201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85" y="744165"/>
            <a:ext cx="9323144" cy="5826965"/>
          </a:xfrm>
        </p:spPr>
      </p:pic>
    </p:spTree>
    <p:extLst>
      <p:ext uri="{BB962C8B-B14F-4D97-AF65-F5344CB8AC3E}">
        <p14:creationId xmlns:p14="http://schemas.microsoft.com/office/powerpoint/2010/main" val="748314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B15F-DE17-42A6-A354-A2332595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055325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D1056-F721-4CB7-8EEC-D334B6D7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59859"/>
            <a:ext cx="9720073" cy="4712925"/>
          </a:xfrm>
        </p:spPr>
        <p:txBody>
          <a:bodyPr/>
          <a:lstStyle/>
          <a:p>
            <a:pPr marL="457200" indent="-457200">
              <a:buFont typeface="+mj-lt"/>
              <a:buAutoNum type="alphaUcPeriod" startAt="2"/>
            </a:pPr>
            <a:r>
              <a:rPr lang="en-US" dirty="0"/>
              <a:t>Embedding-Based Retrieval</a:t>
            </a:r>
          </a:p>
          <a:p>
            <a:pPr marL="0" indent="0">
              <a:buNone/>
            </a:pPr>
            <a:r>
              <a:rPr lang="en-US" dirty="0"/>
              <a:t>Embeddings getting stored successfully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lphaUcPeriod" startAt="2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D9BCBE-D42A-4B13-9ACA-9BDC8321E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29" y="2465294"/>
            <a:ext cx="7300425" cy="414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B15F-DE17-42A6-A354-A2332595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055325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D1056-F721-4CB7-8EEC-D334B6D7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59859"/>
            <a:ext cx="9720073" cy="4712925"/>
          </a:xfrm>
        </p:spPr>
        <p:txBody>
          <a:bodyPr/>
          <a:lstStyle/>
          <a:p>
            <a:pPr marL="457200" indent="-457200">
              <a:buFont typeface="+mj-lt"/>
              <a:buAutoNum type="alphaUcPeriod" startAt="2"/>
            </a:pPr>
            <a:r>
              <a:rPr lang="en-US" dirty="0"/>
              <a:t>Embedding-Based Retrieval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lphaUcPeriod" startAt="2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8610E-0BA9-4DCA-8499-0CED541CD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5" y="1963271"/>
            <a:ext cx="10250330" cy="433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45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B15F-DE17-42A6-A354-A2332595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055325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D1056-F721-4CB7-8EEC-D334B6D7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59859"/>
            <a:ext cx="9720073" cy="4712925"/>
          </a:xfrm>
        </p:spPr>
        <p:txBody>
          <a:bodyPr/>
          <a:lstStyle/>
          <a:p>
            <a:pPr marL="457200" indent="-457200">
              <a:buFont typeface="+mj-lt"/>
              <a:buAutoNum type="alphaUcPeriod" startAt="2"/>
            </a:pPr>
            <a:r>
              <a:rPr lang="en-US" dirty="0"/>
              <a:t>Embedding-Based Retrieval  (Node with embedding </a:t>
            </a:r>
            <a:r>
              <a:rPr lang="en-US" dirty="0" err="1"/>
              <a:t>minilm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lphaUcPeriod" startAt="2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D03B8-2C35-440B-BDF9-D96952550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552" y="1956086"/>
            <a:ext cx="9307224" cy="471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38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B15F-DE17-42A6-A354-A2332595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055325"/>
          </a:xfrm>
        </p:spPr>
        <p:txBody>
          <a:bodyPr/>
          <a:lstStyle/>
          <a:p>
            <a:r>
              <a:rPr lang="en-US" dirty="0"/>
              <a:t>3-Graph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D1056-F721-4CB7-8EEC-D334B6D7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59859"/>
            <a:ext cx="9720073" cy="5298141"/>
          </a:xfrm>
        </p:spPr>
        <p:txBody>
          <a:bodyPr/>
          <a:lstStyle/>
          <a:p>
            <a:pPr marL="457200" indent="-457200">
              <a:buFont typeface="+mj-lt"/>
              <a:buAutoNum type="alphaUcPeriod" startAt="3"/>
            </a:pPr>
            <a:r>
              <a:rPr lang="en-US" dirty="0"/>
              <a:t>Hybrid system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lphaUcPeriod" startAt="2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FC435-8F9C-472C-AABB-0FAA2A01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028730"/>
            <a:ext cx="9259592" cy="482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22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4A60B-04F4-213C-5501-F6691D5F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79294"/>
            <a:ext cx="9720072" cy="1905538"/>
          </a:xfrm>
        </p:spPr>
        <p:txBody>
          <a:bodyPr>
            <a:normAutofit/>
          </a:bodyPr>
          <a:lstStyle/>
          <a:p>
            <a:r>
              <a:rPr lang="en-US" sz="4800" b="1" dirty="0">
                <a:ea typeface="+mj-lt"/>
                <a:cs typeface="+mj-lt"/>
              </a:rPr>
              <a:t>4-LLM Layer – Graph-RAG Answer Generation</a:t>
            </a:r>
            <a:endParaRPr lang="en-US" sz="4800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66888-44C9-0C42-A581-1202E9551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855694"/>
            <a:ext cx="9720073" cy="40233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Input:</a:t>
            </a:r>
          </a:p>
          <a:p>
            <a:r>
              <a:rPr lang="en-US" sz="1800" dirty="0">
                <a:ea typeface="+mn-lt"/>
                <a:cs typeface="+mn-lt"/>
              </a:rPr>
              <a:t>     User query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     Baseline Cypher results</a:t>
            </a:r>
          </a:p>
          <a:p>
            <a:r>
              <a:rPr lang="en-US" sz="1800" dirty="0">
                <a:ea typeface="+mn-lt"/>
                <a:cs typeface="+mn-lt"/>
              </a:rPr>
              <a:t>    Embedding-based retrieval results 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Output: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      Grounded natural-language answer (A conversational answer that sticks strictly to the facts found in the Knowledge Graph.)</a:t>
            </a:r>
            <a:endParaRPr lang="en-US" sz="1800" dirty="0"/>
          </a:p>
          <a:p>
            <a:r>
              <a:rPr lang="en-US" dirty="0"/>
              <a:t>Visual:</a:t>
            </a:r>
          </a:p>
          <a:p>
            <a:r>
              <a:rPr lang="en-US" sz="1800" dirty="0">
                <a:latin typeface="Consolas"/>
              </a:rPr>
              <a:t>KG Results → Context Builder → Prompt → LLM → Answer</a:t>
            </a:r>
            <a:endParaRPr lang="en-US" dirty="0"/>
          </a:p>
          <a:p>
            <a:endParaRPr lang="en-US" sz="1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951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192D0-E467-85CC-ADA9-332CB9FD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Context Construction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E9279-3E9E-15B2-76C1-009584442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We merge baseline Cypher output and embedding-based retrieval results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We converts structured KG data into a compact, readable text format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Limits context size to reduce noise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LLM receives </a:t>
            </a:r>
            <a:r>
              <a:rPr lang="en-US" b="1" dirty="0">
                <a:ea typeface="+mn-lt"/>
                <a:cs typeface="+mn-lt"/>
              </a:rPr>
              <a:t>o</a:t>
            </a:r>
            <a:r>
              <a:rPr lang="en-US" dirty="0">
                <a:ea typeface="+mn-lt"/>
                <a:cs typeface="+mn-lt"/>
              </a:rPr>
              <a:t>nly this context as factual input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Example Context :</a:t>
            </a:r>
          </a:p>
          <a:p>
            <a:r>
              <a:rPr lang="en-US" dirty="0">
                <a:latin typeface="Aptos"/>
              </a:rPr>
              <a:t>Flight: MS123 | Origin: CAI | Destination: DXB | Avg Delay: 18 mins</a:t>
            </a:r>
          </a:p>
          <a:p>
            <a:pPr marL="0" indent="0">
              <a:buNone/>
            </a:pPr>
            <a:r>
              <a:rPr lang="en-US" dirty="0">
                <a:latin typeface="Aptos"/>
              </a:rPr>
              <a:t>  Flight: EK202 | Avg Food Rating: 4.2 | Reviews: 120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890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DC46-0464-AA66-AFAD-BA3111B8E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 Structure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81690-64D6-2DFC-52A1-6541165D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299882"/>
            <a:ext cx="9720073" cy="497290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ea typeface="+mn-lt"/>
                <a:cs typeface="+mn-lt"/>
              </a:rPr>
              <a:t>Prompt is divided into three clearly separated sections:</a:t>
            </a:r>
          </a:p>
          <a:p>
            <a:pPr lvl="1"/>
            <a:r>
              <a:rPr lang="en-US" sz="1600" dirty="0">
                <a:ea typeface="+mn-lt"/>
                <a:cs typeface="+mn-lt"/>
              </a:rPr>
              <a:t>Context</a:t>
            </a:r>
            <a:r>
              <a:rPr lang="en-US" sz="1600" b="1" dirty="0">
                <a:ea typeface="+mn-lt"/>
                <a:cs typeface="+mn-lt"/>
              </a:rPr>
              <a:t>:</a:t>
            </a:r>
            <a:r>
              <a:rPr lang="en-US" sz="1600" dirty="0">
                <a:ea typeface="+mn-lt"/>
                <a:cs typeface="+mn-lt"/>
              </a:rPr>
              <a:t> Knowledge Graph facts</a:t>
            </a:r>
          </a:p>
          <a:p>
            <a:pPr lvl="1"/>
            <a:r>
              <a:rPr lang="en-US" sz="1600" dirty="0">
                <a:ea typeface="+mn-lt"/>
                <a:cs typeface="+mn-lt"/>
              </a:rPr>
              <a:t>Persona</a:t>
            </a:r>
            <a:r>
              <a:rPr lang="en-US" sz="1600" b="1" dirty="0">
                <a:ea typeface="+mn-lt"/>
                <a:cs typeface="+mn-lt"/>
              </a:rPr>
              <a:t>:</a:t>
            </a:r>
            <a:r>
              <a:rPr lang="en-US" sz="1600" dirty="0">
                <a:ea typeface="+mn-lt"/>
                <a:cs typeface="+mn-lt"/>
              </a:rPr>
              <a:t> Assistant role definition</a:t>
            </a:r>
          </a:p>
          <a:p>
            <a:pPr lvl="1"/>
            <a:r>
              <a:rPr lang="en-US" sz="1600" dirty="0">
                <a:ea typeface="+mn-lt"/>
                <a:cs typeface="+mn-lt"/>
              </a:rPr>
              <a:t>Task</a:t>
            </a:r>
            <a:r>
              <a:rPr lang="en-US" sz="1600" b="1" dirty="0">
                <a:ea typeface="+mn-lt"/>
                <a:cs typeface="+mn-lt"/>
              </a:rPr>
              <a:t>:</a:t>
            </a:r>
            <a:r>
              <a:rPr lang="en-US" sz="1600" dirty="0">
                <a:ea typeface="+mn-lt"/>
                <a:cs typeface="+mn-lt"/>
              </a:rPr>
              <a:t> Explicit grounding instructions</a:t>
            </a:r>
          </a:p>
          <a:p>
            <a:r>
              <a:rPr lang="en-US" sz="1600" dirty="0">
                <a:ea typeface="+mn-lt"/>
                <a:cs typeface="+mn-lt"/>
              </a:rPr>
              <a:t>Same prompt structure used for all LLMs </a:t>
            </a:r>
          </a:p>
          <a:p>
            <a:r>
              <a:rPr lang="en-US" sz="1600" dirty="0">
                <a:ea typeface="+mn-lt"/>
                <a:cs typeface="+mn-lt"/>
              </a:rPr>
              <a:t>Prompt Layout:</a:t>
            </a:r>
          </a:p>
          <a:p>
            <a:r>
              <a:rPr lang="en-US" sz="1600" dirty="0">
                <a:latin typeface="Aptos" panose="020B0004020202020204"/>
              </a:rPr>
              <a:t>Context:
&lt;KG-derived facts&gt;
Persona:
Helpful flight information assistant
Task:
Answer using only the provided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32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506B-9969-3AFC-0C23-5542E6E3E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LLM Models &amp; Evaluation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191429-4B52-7795-31C6-4541E76B5E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209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108860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396722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223876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24761851"/>
                    </a:ext>
                  </a:extLst>
                </a:gridCol>
              </a:tblGrid>
              <a:tr h="68539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Model          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chemeClr val="bg1"/>
                          </a:solidFill>
                        </a:rPr>
                        <a:t>Speed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Answer Quality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Hallucination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083028"/>
                  </a:ext>
                </a:extLst>
              </a:tr>
              <a:tr h="68539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flan-t5-small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Fast   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Acceptable  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Low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866375"/>
                  </a:ext>
                </a:extLst>
              </a:tr>
              <a:tr h="61876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flan-t5-base 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Slower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Better        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Very Low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2480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4A406C0-B9CE-F7DC-AD83-06041DF927AD}"/>
              </a:ext>
            </a:extLst>
          </p:cNvPr>
          <p:cNvSpPr txBox="1"/>
          <p:nvPr/>
        </p:nvSpPr>
        <p:spPr>
          <a:xfrm>
            <a:off x="833034" y="4203915"/>
            <a:ext cx="10519475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"/>
              <a:buChar char="•"/>
            </a:pPr>
            <a:r>
              <a:rPr lang="en-US" sz="2600" baseline="0">
                <a:latin typeface="Aptos"/>
                <a:ea typeface="Arial"/>
                <a:cs typeface="Arial"/>
              </a:rPr>
              <a:t>Both models evaluated using identical context and prompt structure</a:t>
            </a:r>
            <a:r>
              <a:rPr lang="en-US" sz="2600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endParaRPr lang="en-US">
              <a:latin typeface="Arial"/>
              <a:ea typeface="Arial"/>
              <a:cs typeface="Arial"/>
            </a:endParaRPr>
          </a:p>
          <a:p>
            <a:pPr marL="228600" lvl="0" indent="-228600" rtl="0">
              <a:buFont typeface=""/>
              <a:buChar char="•"/>
            </a:pPr>
            <a:r>
              <a:rPr lang="en-US" sz="2600" baseline="0">
                <a:latin typeface="Aptos"/>
                <a:ea typeface="Arial"/>
                <a:cs typeface="Arial"/>
              </a:rPr>
              <a:t>flan-t5-base generated more complete answers from KG context</a:t>
            </a:r>
            <a:r>
              <a:rPr lang="en-US" sz="2600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endParaRPr lang="en-US">
              <a:latin typeface="Arial"/>
              <a:ea typeface="Arial"/>
              <a:cs typeface="Arial"/>
            </a:endParaRPr>
          </a:p>
          <a:p>
            <a:pPr marL="228600" lvl="0" indent="-228600" rtl="0">
              <a:buFont typeface=""/>
              <a:buChar char="•"/>
            </a:pPr>
            <a:r>
              <a:rPr lang="en-US" sz="2600" baseline="0">
                <a:latin typeface="Aptos"/>
                <a:ea typeface="Arial"/>
                <a:cs typeface="Arial"/>
              </a:rPr>
              <a:t>flan-t5-small selected when lower latency is required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26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A20D-CD86-40D6-84EC-9D271EEF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5-Error Analysis &amp; Improvements </a:t>
            </a:r>
            <a:br>
              <a:rPr lang="en-US" dirty="0"/>
            </a:br>
            <a:r>
              <a:rPr lang="en-US" sz="2000" dirty="0"/>
              <a:t>Embedded did not go as planned</a:t>
            </a:r>
          </a:p>
        </p:txBody>
      </p:sp>
      <p:pic>
        <p:nvPicPr>
          <p:cNvPr id="2052" name="Picture 4" descr="[100+] Sad Face Pictures | Wallpapers.com">
            <a:extLst>
              <a:ext uri="{FF2B5EF4-FFF2-40B4-BE49-F238E27FC236}">
                <a16:creationId xmlns:a16="http://schemas.microsoft.com/office/drawing/2014/main" id="{BE4D0F78-D20F-4454-89E5-0FAD290655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889" y="2250059"/>
            <a:ext cx="6436360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490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BD9F-8BBA-494C-9BE6-2E87482D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6- Live demo application</a:t>
            </a:r>
          </a:p>
        </p:txBody>
      </p:sp>
    </p:spTree>
    <p:extLst>
      <p:ext uri="{BB962C8B-B14F-4D97-AF65-F5344CB8AC3E}">
        <p14:creationId xmlns:p14="http://schemas.microsoft.com/office/powerpoint/2010/main" val="34701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445</TotalTime>
  <Words>646</Words>
  <Application>Microsoft Office PowerPoint</Application>
  <PresentationFormat>Widescreen</PresentationFormat>
  <Paragraphs>152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Consolas</vt:lpstr>
      <vt:lpstr>Tw Cen MT</vt:lpstr>
      <vt:lpstr>Tw Cen MT Condensed</vt:lpstr>
      <vt:lpstr>Wingdings</vt:lpstr>
      <vt:lpstr>Wingdings 3</vt:lpstr>
      <vt:lpstr>Integral</vt:lpstr>
      <vt:lpstr>Airline Company Flight Insights Assistant​</vt:lpstr>
      <vt:lpstr>1-High-Level System Architecture </vt:lpstr>
      <vt:lpstr>2-Preprocessing</vt:lpstr>
      <vt:lpstr>2-Preprocessing</vt:lpstr>
      <vt:lpstr>2-Preprocessing</vt:lpstr>
      <vt:lpstr>2-Preprocessing</vt:lpstr>
      <vt:lpstr>3-Graph retrieval</vt:lpstr>
      <vt:lpstr>3-Graph retrieval</vt:lpstr>
      <vt:lpstr>3-Graph retrieval</vt:lpstr>
      <vt:lpstr>3-Graph retrieval</vt:lpstr>
      <vt:lpstr>3-Graph retrieval</vt:lpstr>
      <vt:lpstr>3-Graph retrieval</vt:lpstr>
      <vt:lpstr>3-Graph retrieval</vt:lpstr>
      <vt:lpstr>PowerPoint Presentation</vt:lpstr>
      <vt:lpstr>PowerPoint Presentation</vt:lpstr>
      <vt:lpstr>3-Graph retrieval</vt:lpstr>
      <vt:lpstr>3-Graph retrieval</vt:lpstr>
      <vt:lpstr>3-Graph retrieval</vt:lpstr>
      <vt:lpstr>3-Graph retrieval</vt:lpstr>
      <vt:lpstr>4-LLM Layer – Graph-RAG Answer Generation </vt:lpstr>
      <vt:lpstr>Context Construction </vt:lpstr>
      <vt:lpstr>Prompt Structure </vt:lpstr>
      <vt:lpstr>LLM Models &amp; Evaluation </vt:lpstr>
      <vt:lpstr>5-Error Analysis &amp; Improvements  Embedded did not go as planned</vt:lpstr>
      <vt:lpstr>6- Live demo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Name</dc:title>
  <dc:creator>mahmoud emara</dc:creator>
  <cp:lastModifiedBy>mahmoud emara</cp:lastModifiedBy>
  <cp:revision>11</cp:revision>
  <dcterms:created xsi:type="dcterms:W3CDTF">2025-12-15T22:27:45Z</dcterms:created>
  <dcterms:modified xsi:type="dcterms:W3CDTF">2025-12-16T05:53:39Z</dcterms:modified>
</cp:coreProperties>
</file>